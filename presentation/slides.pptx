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20b83f32c2f4083" /><Relationship Type="http://schemas.openxmlformats.org/package/2006/relationships/metadata/core-properties" Target="/docProps/core.xml" Id="Rc4bd5bddeb7d4b93" /><Relationship Type="http://schemas.openxmlformats.org/officeDocument/2006/relationships/extended-properties" Target="/docProps/app.xml" Id="Re05c2c2cb0134c9a" /><Relationship Type="http://schemas.openxmlformats.org/officeDocument/2006/relationships/custom-properties" Target="/docProps/custom.xml" Id="R12cfbb060bc2416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f05c99a63fa54e55"/>
  </p:notesMasterIdLst>
  <p:sldIdLst>
    <p:sldId id="256" r:id="R1377b80fe70e4815"/>
    <p:sldId id="257" r:id="R1fe00eaf7c0a4114"/>
    <p:sldId id="258" r:id="Rf71f5a2b4fce4a86"/>
    <p:sldId id="259" r:id="R8bea465097a642a0"/>
    <p:sldId id="260" r:id="R85d788aba66e43c4"/>
    <p:sldId id="261" r:id="Re80fb483bb5d4368"/>
    <p:sldId id="262" r:id="Rc38f082fb41b4295"/>
    <p:sldId id="263" r:id="R8c5cefcfb889463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377b80fe70e4815" /><Relationship Type="http://schemas.openxmlformats.org/officeDocument/2006/relationships/notesMaster" Target="/ppt/notesMasters/notesMaster1.xml" Id="Rf05c99a63fa54e55" /><Relationship Type="http://schemas.openxmlformats.org/officeDocument/2006/relationships/slide" Target="/ppt/slides/slide2.xml" Id="R1fe00eaf7c0a4114" /><Relationship Type="http://schemas.openxmlformats.org/officeDocument/2006/relationships/slide" Target="/ppt/slides/slide3.xml" Id="Rf71f5a2b4fce4a86" /><Relationship Type="http://schemas.openxmlformats.org/officeDocument/2006/relationships/slide" Target="/ppt/slides/slide4.xml" Id="R8bea465097a642a0" /><Relationship Type="http://schemas.openxmlformats.org/officeDocument/2006/relationships/slide" Target="/ppt/slides/slide5.xml" Id="R85d788aba66e43c4" /><Relationship Type="http://schemas.openxmlformats.org/officeDocument/2006/relationships/slide" Target="/ppt/slides/slide6.xml" Id="Re80fb483bb5d4368" /><Relationship Type="http://schemas.openxmlformats.org/officeDocument/2006/relationships/slide" Target="/ppt/slides/slide7.xml" Id="Rc38f082fb41b4295" /><Relationship Type="http://schemas.openxmlformats.org/officeDocument/2006/relationships/slide" Target="/ppt/slides/slide8.xml" Id="R8c5cefcfb88946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5004770e5e342a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eb370f8b17747f0" /><Relationship Type="http://schemas.openxmlformats.org/officeDocument/2006/relationships/slide" Target="/ppt/slides/slide1.xml" Id="Re236fe31de844c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7f0d6b1e03e4688" /><Relationship Type="http://schemas.openxmlformats.org/officeDocument/2006/relationships/slide" Target="/ppt/slides/slide2.xml" Id="R69c5434ebe4942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460b1fdbf154827" /><Relationship Type="http://schemas.openxmlformats.org/officeDocument/2006/relationships/slide" Target="/ppt/slides/slide3.xml" Id="Ra1e11436872948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5f403181d474f22" /><Relationship Type="http://schemas.openxmlformats.org/officeDocument/2006/relationships/slide" Target="/ppt/slides/slide4.xml" Id="R53186a5eeb224d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7b154625ae44e6e" /><Relationship Type="http://schemas.openxmlformats.org/officeDocument/2006/relationships/slide" Target="/ppt/slides/slide5.xml" Id="R9da576a57dc642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5a150c38f0046fb" /><Relationship Type="http://schemas.openxmlformats.org/officeDocument/2006/relationships/slide" Target="/ppt/slides/slide6.xml" Id="R786e6b78d9b54c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1788fe20ea74f8b" /><Relationship Type="http://schemas.openxmlformats.org/officeDocument/2006/relationships/slide" Target="/ppt/slides/slide7.xml" Id="R7e217d72e7b045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90d5ac22df44893" /><Relationship Type="http://schemas.openxmlformats.org/officeDocument/2006/relationships/slide" Target="/ppt/slides/slide8.xml" Id="R7d2fffa5fac947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Welcome slide. Team root-cause-Analyzer. AI Track. Hackathon submission.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core problem: supply chain disruptions are invisible until it's too late. Three pain points — detection gap, response gap, cost impact.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solution: a Bob-orchestrated assistant with 4 MCP tools powered by watsonx.ai Granite, surfaced through a React dashboard.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Architecture: Data sources feed the Bob agent orchestrator. Agent chains 4 MCP tools, routes to watsonx.ai for AI inference, persists to SQLite, surfaces via FastAPI + React.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through the 4 key user journeys: Dashboard overview → Disruption rerouting → Cold chain alert → Natural language assistant.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IBM Bob is the orchestrator and tool runner. watsonx.ai Granite is used for two specific inference tasks: rerouting recommendation generation and cold chain severity classification.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Results: sub-2s impact analysis, 3 AI rerouting options per shipment, 3-tier cold chain severity. The cold chain pipeline is the strongest demonstration of meaningful IBM Bob + watsonx.ai integration.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Team of 4. Vaibhavlaxmi led backend and IBM integrations. Kevina owned the React dashboard. Aayush built MCP tools and data pipeline. Abhishek built cold chain and rerouting advisors.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e86a801fb84a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429c67206242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e9d86b0624a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0f4cc967d246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744708ddd436b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6f08dbf77644ac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745cb33ac49a9" /><Relationship Type="http://schemas.openxmlformats.org/officeDocument/2006/relationships/notesSlide" Target="/ppt/notesSlides/notesSlide1.xml" Id="Re06af292f54a4f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d5f08a8c24955" /><Relationship Type="http://schemas.openxmlformats.org/officeDocument/2006/relationships/notesSlide" Target="/ppt/notesSlides/notesSlide2.xml" Id="R7959c015c4e146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f031654d648ac" /><Relationship Type="http://schemas.openxmlformats.org/officeDocument/2006/relationships/notesSlide" Target="/ppt/notesSlides/notesSlide3.xml" Id="R52fe1fff1c4147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d3c40a13f45a3" /><Relationship Type="http://schemas.openxmlformats.org/officeDocument/2006/relationships/notesSlide" Target="/ppt/notesSlides/notesSlide4.xml" Id="Rd90f06c6b03b43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894be25864644" /><Relationship Type="http://schemas.openxmlformats.org/officeDocument/2006/relationships/notesSlide" Target="/ppt/notesSlides/notesSlide5.xml" Id="R28d294d0857841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2ea45ecd847d7" /><Relationship Type="http://schemas.openxmlformats.org/officeDocument/2006/relationships/notesSlide" Target="/ppt/notesSlides/notesSlide6.xml" Id="R824baa5703b24e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a26641c944466" /><Relationship Type="http://schemas.openxmlformats.org/officeDocument/2006/relationships/notesSlide" Target="/ppt/notesSlides/notesSlide7.xml" Id="Rb629fe6c0fb947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0574b592e47c1" /><Relationship Type="http://schemas.openxmlformats.org/officeDocument/2006/relationships/notesSlide" Target="/ppt/notesSlides/notesSlide8.xml" Id="Re3f70cc4460a47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D5E"/>
        </a:solidFill>
      </p:bgPr>
    </p:bg>
    <p:spTree>
      <p:nvGrpSpPr>
        <p:cNvPr id="1" name=""/>
        <p:cNvGrpSpPr/>
        <p:nvPr/>
      </p:nvGrpSpPr>
      <p:grpSpPr/>
      <p:sp>
        <p:nvSpPr>
          <p:cNvPr id="100000" name="Tag"/>
          <p:cNvSpPr txBox="1"/>
          <p:nvPr/>
        </p:nvSpPr>
        <p:spPr>
          <a:xfrm xmlns:a="http://schemas.openxmlformats.org/drawingml/2006/main">
            <a:off x="720000" y="432000"/>
            <a:ext cx="104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EB8F7"/>
                </a:solidFill>
              </a:rPr>
              <a:t>IBM Bob AI Hackathon</a:t>
            </a: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720000" y="1080000"/>
            <a:ext cx="1044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Supply Chain Disruption Assistant</a:t>
            </a:r>
          </a:p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&amp; Fleet Utilisation Optimizer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720000" y="3060000"/>
            <a:ext cx="1044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B8D4F0"/>
                </a:solidFill>
              </a:rPr>
              <a:t>AI-powered real-time disruption detection · rerouting · fleet redeployment · cold chain monitoring</a:t>
            </a:r>
          </a:p>
        </p:txBody>
      </p:sp>
      <p:sp>
        <p:nvSpPr>
          <p:cNvPr id="100003" name="Track"/>
          <p:cNvSpPr txBox="1"/>
          <p:nvPr/>
        </p:nvSpPr>
        <p:spPr>
          <a:xfrm xmlns:a="http://schemas.openxmlformats.org/drawingml/2006/main">
            <a:off x="720000" y="3780000"/>
            <a:ext cx="288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27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Track: AI</a:t>
            </a:r>
          </a:p>
        </p:txBody>
      </p:sp>
      <p:sp>
        <p:nvSpPr>
          <p:cNvPr id="100004" name="Team"/>
          <p:cNvSpPr txBox="1"/>
          <p:nvPr/>
        </p:nvSpPr>
        <p:spPr>
          <a:xfrm xmlns:a="http://schemas.openxmlformats.org/drawingml/2006/main">
            <a:off x="720000" y="4248000"/>
            <a:ext cx="1044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7EB8F7"/>
                </a:solidFill>
              </a:rPr>
              <a:t>Team: root-cause-Analyzer  ·  Lead: Vaibhavlaxmi  ·  Members: Kevina, Aayush, Abhishek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5" name="SlideNum"/>
          <p:cNvSpPr txBox="1"/>
          <p:nvPr/>
        </p:nvSpPr>
        <p:spPr>
          <a:xfrm xmlns:a="http://schemas.openxmlformats.org/drawingml/2006/main">
            <a:off x="11160000" y="180000"/>
            <a:ext cx="5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AAAAA"/>
                </a:solidFill>
              </a:rPr>
              <a:t>02</a:t>
            </a:r>
          </a:p>
        </p:txBody>
      </p:sp>
      <p:sp>
        <p:nvSpPr>
          <p:cNvPr id="100006" name="AccentBar"/>
          <p:cNvSpPr txBox="1"/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2D5E"/>
              </a:solidFill>
            </a:endParaRPr>
          </a:p>
        </p:txBody>
      </p:sp>
      <p:sp>
        <p:nvSpPr>
          <p:cNvPr id="100007" name="Title"/>
          <p:cNvSpPr txBox="1"/>
          <p:nvPr/>
        </p:nvSpPr>
        <p:spPr>
          <a:xfrm xmlns:a="http://schemas.openxmlformats.org/drawingml/2006/main">
            <a:off x="540000" y="360000"/>
            <a:ext cx="72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F2D5E"/>
                </a:solidFill>
              </a:rPr>
              <a:t>The Problem</a:t>
            </a:r>
          </a:p>
        </p:txBody>
      </p:sp>
      <p:sp>
        <p:nvSpPr>
          <p:cNvPr id="100008" name="Subtitle"/>
          <p:cNvSpPr txBox="1"/>
          <p:nvPr/>
        </p:nvSpPr>
        <p:spPr>
          <a:xfrm xmlns:a="http://schemas.openxmlformats.org/drawingml/2006/main">
            <a:off x="540000" y="1008000"/>
            <a:ext cx="97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555555"/>
                </a:solidFill>
              </a:rPr>
              <a:t>Global supply chains are always one disruption away from crisis</a:t>
            </a:r>
          </a:p>
        </p:txBody>
      </p:sp>
      <p:sp>
        <p:nvSpPr>
          <p:cNvPr id="100009" name="P1Icon"/>
          <p:cNvSpPr txBox="1"/>
          <p:nvPr/>
        </p:nvSpPr>
        <p:spPr>
          <a:xfrm xmlns:a="http://schemas.openxmlformats.org/drawingml/2006/main">
            <a:off x="540000" y="162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C0392B"/>
                </a:solidFill>
              </a:rPr>
              <a:t>⚡</a:t>
            </a:r>
          </a:p>
        </p:txBody>
      </p:sp>
      <p:sp>
        <p:nvSpPr>
          <p:cNvPr id="100010" name="P1"/>
          <p:cNvSpPr txBox="1"/>
          <p:nvPr/>
        </p:nvSpPr>
        <p:spPr>
          <a:xfrm xmlns:a="http://schemas.openxmlformats.org/drawingml/2006/main">
            <a:off x="1080000" y="1620000"/>
            <a:ext cx="1044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222222"/>
                </a:solidFill>
              </a:rPr>
              <a:t>Port strikes, severe weather, geopolitical crises cascade silently across hundreds of shipments simultaneously — logistics teams have no automated early-warning system.</a:t>
            </a:r>
          </a:p>
        </p:txBody>
      </p:sp>
      <p:sp>
        <p:nvSpPr>
          <p:cNvPr id="100011" name="P2Icon"/>
          <p:cNvSpPr txBox="1"/>
          <p:nvPr/>
        </p:nvSpPr>
        <p:spPr>
          <a:xfrm xmlns:a="http://schemas.openxmlformats.org/drawingml/2006/main">
            <a:off x="540000" y="2448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C0392B"/>
                </a:solidFill>
              </a:rPr>
              <a:t>📦</a:t>
            </a:r>
          </a:p>
        </p:txBody>
      </p:sp>
      <p:sp>
        <p:nvSpPr>
          <p:cNvPr id="100012" name="P2"/>
          <p:cNvSpPr txBox="1"/>
          <p:nvPr/>
        </p:nvSpPr>
        <p:spPr>
          <a:xfrm xmlns:a="http://schemas.openxmlformats.org/drawingml/2006/main">
            <a:off x="1080000" y="2448000"/>
            <a:ext cx="1044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222222"/>
                </a:solidFill>
              </a:rPr>
              <a:t>No automated way to identify trapped shipments, find alternative routes, locate idle fleet assets nearby, or detect cold chain temperature excursions before delivery.</a:t>
            </a:r>
          </a:p>
        </p:txBody>
      </p:sp>
      <p:sp>
        <p:nvSpPr>
          <p:cNvPr id="100013" name="P3Icon"/>
          <p:cNvSpPr txBox="1"/>
          <p:nvPr/>
        </p:nvSpPr>
        <p:spPr>
          <a:xfrm xmlns:a="http://schemas.openxmlformats.org/drawingml/2006/main">
            <a:off x="540000" y="3276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C0392B"/>
                </a:solidFill>
              </a:rPr>
              <a:t>💸</a:t>
            </a:r>
          </a:p>
        </p:txBody>
      </p:sp>
      <p:sp>
        <p:nvSpPr>
          <p:cNvPr id="100014" name="P3"/>
          <p:cNvSpPr txBox="1"/>
          <p:nvPr/>
        </p:nvSpPr>
        <p:spPr>
          <a:xfrm xmlns:a="http://schemas.openxmlformats.org/drawingml/2006/main">
            <a:off x="1080000" y="3276000"/>
            <a:ext cx="10440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222222"/>
                </a:solidFill>
              </a:rPr>
              <a:t>By the time the impact is visible, it is too late to act. Cargo losses can exceed $500,000 per hold. Emergency re-routing adds 2–3× freight costs.</a:t>
            </a:r>
          </a:p>
        </p:txBody>
      </p:sp>
      <p:sp>
        <p:nvSpPr>
          <p:cNvPr id="100015" name="StatBox"/>
          <p:cNvSpPr txBox="1"/>
          <p:nvPr/>
        </p:nvSpPr>
        <p:spPr>
          <a:xfrm xmlns:a="http://schemas.openxmlformats.org/drawingml/2006/main">
            <a:off x="7920000" y="4320000"/>
            <a:ext cx="36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$500K+</a:t>
            </a:r>
          </a:p>
          <a:p xmlns:a="http://schemas.openxmlformats.org/drawingml/2006/main">
            <a:r>
              <a:rPr lang="en-US" sz="1800" b="1">
                <a:solidFill>
                  <a:srgbClr val="FFFFFF"/>
                </a:solidFill>
              </a:rPr>
              <a:t>per disrupted cargo hold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6" name="SlideNum"/>
          <p:cNvSpPr txBox="1"/>
          <p:nvPr/>
        </p:nvSpPr>
        <p:spPr>
          <a:xfrm xmlns:a="http://schemas.openxmlformats.org/drawingml/2006/main">
            <a:off x="11160000" y="180000"/>
            <a:ext cx="5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AAAAA"/>
                </a:solidFill>
              </a:rPr>
              <a:t>03</a:t>
            </a:r>
          </a:p>
        </p:txBody>
      </p:sp>
      <p:sp>
        <p:nvSpPr>
          <p:cNvPr id="100017" name="AccentBar"/>
          <p:cNvSpPr txBox="1"/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2D5E"/>
              </a:solidFill>
            </a:endParaRPr>
          </a:p>
        </p:txBody>
      </p:sp>
      <p:sp>
        <p:nvSpPr>
          <p:cNvPr id="100018" name="Title"/>
          <p:cNvSpPr txBox="1"/>
          <p:nvPr/>
        </p:nvSpPr>
        <p:spPr>
          <a:xfrm xmlns:a="http://schemas.openxmlformats.org/drawingml/2006/main">
            <a:off x="540000" y="360000"/>
            <a:ext cx="72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F2D5E"/>
                </a:solidFill>
              </a:rPr>
              <a:t>Our Solution</a:t>
            </a:r>
          </a:p>
        </p:txBody>
      </p:sp>
      <p:sp>
        <p:nvSpPr>
          <p:cNvPr id="100019" name="Tagline"/>
          <p:cNvSpPr txBox="1"/>
          <p:nvPr/>
        </p:nvSpPr>
        <p:spPr>
          <a:xfrm xmlns:a="http://schemas.openxmlformats.org/drawingml/2006/main">
            <a:off x="540000" y="1008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555555"/>
                </a:solidFill>
              </a:rPr>
              <a:t>One AI assistant. Four tools. Full supply chain visibility — in real time.</a:t>
            </a:r>
          </a:p>
        </p:txBody>
      </p:sp>
      <p:sp>
        <p:nvSpPr>
          <p:cNvPr id="100020" name="F1Box"/>
          <p:cNvSpPr txBox="1"/>
          <p:nvPr/>
        </p:nvSpPr>
        <p:spPr>
          <a:xfrm xmlns:a="http://schemas.openxmlformats.org/drawingml/2006/main">
            <a:off x="540000" y="1512000"/>
            <a:ext cx="52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222222"/>
                </a:solidFill>
              </a:rPr>
              <a:t>🔍  Disruption Impact Mapping</a:t>
            </a:r>
          </a:p>
          <a:p xmlns:a="http://schemas.openxmlformats.org/drawingml/2006/main">
            <a:r>
              <a:rPr lang="en-US" sz="1400">
                <a:solidFill>
                  <a:srgbClr val="222222"/>
                </a:solidFill>
              </a:rPr>
              <a:t>Cross-references live disruption events against active shipment legs. Instantly flags which shipments are trapped with a severity score.</a:t>
            </a:r>
          </a:p>
        </p:txBody>
      </p:sp>
      <p:sp>
        <p:nvSpPr>
          <p:cNvPr id="100021" name="F2Box"/>
          <p:cNvSpPr txBox="1"/>
          <p:nvPr/>
        </p:nvSpPr>
        <p:spPr>
          <a:xfrm xmlns:a="http://schemas.openxmlformats.org/drawingml/2006/main">
            <a:off x="6300000" y="1512000"/>
            <a:ext cx="52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222222"/>
                </a:solidFill>
              </a:rPr>
              <a:t>🔀  AI-Powered Rerouting</a:t>
            </a:r>
          </a:p>
          <a:p xmlns:a="http://schemas.openxmlformats.org/drawingml/2006/main">
            <a:r>
              <a:rPr lang="en-US" sz="1400">
                <a:solidFill>
                  <a:srgbClr val="222222"/>
                </a:solidFill>
              </a:rPr>
              <a:t>Calls watsonx.ai Granite with route context to produce 3 ranked carrier/route alternatives with plain-language reasoning and delay estimates.</a:t>
            </a:r>
          </a:p>
        </p:txBody>
      </p:sp>
      <p:sp>
        <p:nvSpPr>
          <p:cNvPr id="100022" name="F3Box"/>
          <p:cNvSpPr txBox="1"/>
          <p:nvPr/>
        </p:nvSpPr>
        <p:spPr>
          <a:xfrm xmlns:a="http://schemas.openxmlformats.org/drawingml/2006/main">
            <a:off x="540000" y="3060000"/>
            <a:ext cx="52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222222"/>
                </a:solidFill>
              </a:rPr>
              <a:t>🚛  Fleet Asset Redeployment</a:t>
            </a:r>
          </a:p>
          <a:p xmlns:a="http://schemas.openxmlformats.org/drawingml/2006/main">
            <a:r>
              <a:rPr lang="en-US" sz="1400">
                <a:solidFill>
                  <a:srgbClr val="222222"/>
                </a:solidFill>
              </a:rPr>
              <a:t>Scans simulated fleet telemetry to surface idle trucks, containers, and reefer vessels near disrupted regions — ranked by proximity and capacity.</a:t>
            </a:r>
          </a:p>
        </p:txBody>
      </p:sp>
      <p:sp>
        <p:nvSpPr>
          <p:cNvPr id="100023" name="F4Box"/>
          <p:cNvSpPr txBox="1"/>
          <p:nvPr/>
        </p:nvSpPr>
        <p:spPr>
          <a:xfrm xmlns:a="http://schemas.openxmlformats.org/drawingml/2006/main">
            <a:off x="6300000" y="3060000"/>
            <a:ext cx="52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222222"/>
                </a:solidFill>
              </a:rPr>
              <a:t>🌡  Cold Chain Monitoring</a:t>
            </a:r>
          </a:p>
          <a:p xmlns:a="http://schemas.openxmlformats.org/drawingml/2006/main">
            <a:r>
              <a:rPr lang="en-US" sz="1400">
                <a:solidFill>
                  <a:srgbClr val="222222"/>
                </a:solidFill>
              </a:rPr>
              <a:t>Monitors IoT temperature sensor logs for refrigerated shipments. Detects excursions, classifies severity (CRITICAL / REPORTABLE / MINOR) and recommends action.</a:t>
            </a:r>
          </a:p>
        </p:txBody>
      </p:sp>
      <p:sp>
        <p:nvSpPr>
          <p:cNvPr id="100024" name="Dashboard"/>
          <p:cNvSpPr txBox="1"/>
          <p:nvPr/>
        </p:nvSpPr>
        <p:spPr>
          <a:xfrm xmlns:a="http://schemas.openxmlformats.org/drawingml/2006/main">
            <a:off x="540000" y="4680000"/>
            <a:ext cx="108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</a:rPr>
              <a:t>Unified React Dashboard  —  All four outputs in one operational view. No manual data aggregation.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5" name="SlideNum"/>
          <p:cNvSpPr txBox="1"/>
          <p:nvPr/>
        </p:nvSpPr>
        <p:spPr>
          <a:xfrm xmlns:a="http://schemas.openxmlformats.org/drawingml/2006/main">
            <a:off x="11160000" y="180000"/>
            <a:ext cx="5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AAAAA"/>
                </a:solidFill>
              </a:rPr>
              <a:t>04</a:t>
            </a:r>
          </a:p>
        </p:txBody>
      </p:sp>
      <p:sp>
        <p:nvSpPr>
          <p:cNvPr id="100026" name="AccentBar"/>
          <p:cNvSpPr txBox="1"/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2D5E"/>
              </a:solidFill>
            </a:endParaRPr>
          </a:p>
        </p:txBody>
      </p:sp>
      <p:sp>
        <p:nvSpPr>
          <p:cNvPr id="100027" name="Title"/>
          <p:cNvSpPr txBox="1"/>
          <p:nvPr/>
        </p:nvSpPr>
        <p:spPr>
          <a:xfrm xmlns:a="http://schemas.openxmlformats.org/drawingml/2006/main">
            <a:off x="540000" y="360000"/>
            <a:ext cx="90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F2D5E"/>
                </a:solidFill>
              </a:rPr>
              <a:t>System Architecture</a:t>
            </a:r>
          </a:p>
        </p:txBody>
      </p:sp>
      <p:sp>
        <p:nvSpPr>
          <p:cNvPr id="100028" name="LayerData"/>
          <p:cNvSpPr txBox="1"/>
          <p:nvPr/>
        </p:nvSpPr>
        <p:spPr>
          <a:xfrm xmlns:a="http://schemas.openxmlformats.org/drawingml/2006/main">
            <a:off x="540000" y="1080000"/>
            <a:ext cx="216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27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DATA SOURCES</a:t>
            </a:r>
          </a:p>
        </p:txBody>
      </p:sp>
      <p:sp>
        <p:nvSpPr>
          <p:cNvPr id="100029" name="DataItems"/>
          <p:cNvSpPr txBox="1"/>
          <p:nvPr/>
        </p:nvSpPr>
        <p:spPr>
          <a:xfrm xmlns:a="http://schemas.openxmlformats.org/drawingml/2006/main">
            <a:off x="540000" y="1368000"/>
            <a:ext cx="21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Disruption Events (JSON)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Shipment Manifest (JSON)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Fleet Telemetry (JSON)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IoT Sensor Logs (JSON)</a:t>
            </a:r>
          </a:p>
        </p:txBody>
      </p:sp>
      <p:sp>
        <p:nvSpPr>
          <p:cNvPr id="100030" name="Arrow1"/>
          <p:cNvSpPr txBox="1"/>
          <p:nvPr/>
        </p:nvSpPr>
        <p:spPr>
          <a:xfrm xmlns:a="http://schemas.openxmlformats.org/drawingml/2006/main">
            <a:off x="2880000" y="18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F2D5E"/>
                </a:solidFill>
              </a:rPr>
              <a:t>→</a:t>
            </a:r>
          </a:p>
        </p:txBody>
      </p:sp>
      <p:sp>
        <p:nvSpPr>
          <p:cNvPr id="100031" name="LayerAgent"/>
          <p:cNvSpPr txBox="1"/>
          <p:nvPr/>
        </p:nvSpPr>
        <p:spPr>
          <a:xfrm xmlns:a="http://schemas.openxmlformats.org/drawingml/2006/main">
            <a:off x="3420000" y="1080000"/>
            <a:ext cx="288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BOB AGENT LAYER</a:t>
            </a:r>
          </a:p>
        </p:txBody>
      </p:sp>
      <p:sp>
        <p:nvSpPr>
          <p:cNvPr id="100032" name="AgentItems"/>
          <p:cNvSpPr txBox="1"/>
          <p:nvPr/>
        </p:nvSpPr>
        <p:spPr>
          <a:xfrm xmlns:a="http://schemas.openxmlformats.org/drawingml/2006/main">
            <a:off x="3420000" y="1368000"/>
            <a:ext cx="2880000" cy="15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Bob Agent Orchestrator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─────────────────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Tool 1: Shipment Impact Analyzer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Tool 2: Re-routing Advisor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Tool 3: Fleet Asset Scanner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Tool 4: Cold Chain IoT Monitor</a:t>
            </a:r>
          </a:p>
        </p:txBody>
      </p:sp>
      <p:sp>
        <p:nvSpPr>
          <p:cNvPr id="100033" name="Arrow2"/>
          <p:cNvSpPr txBox="1"/>
          <p:nvPr/>
        </p:nvSpPr>
        <p:spPr>
          <a:xfrm xmlns:a="http://schemas.openxmlformats.org/drawingml/2006/main">
            <a:off x="6480000" y="1800000"/>
            <a:ext cx="3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0F2D5E"/>
                </a:solidFill>
              </a:rPr>
              <a:t>→</a:t>
            </a:r>
          </a:p>
        </p:txBody>
      </p:sp>
      <p:sp>
        <p:nvSpPr>
          <p:cNvPr id="100034" name="LayerAI"/>
          <p:cNvSpPr txBox="1"/>
          <p:nvPr/>
        </p:nvSpPr>
        <p:spPr>
          <a:xfrm xmlns:a="http://schemas.openxmlformats.org/drawingml/2006/main">
            <a:off x="7020000" y="1080000"/>
            <a:ext cx="252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7A6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AI LAYER</a:t>
            </a:r>
          </a:p>
        </p:txBody>
      </p:sp>
      <p:sp>
        <p:nvSpPr>
          <p:cNvPr id="100035" name="AIItems"/>
          <p:cNvSpPr txBox="1"/>
          <p:nvPr/>
        </p:nvSpPr>
        <p:spPr>
          <a:xfrm xmlns:a="http://schemas.openxmlformats.org/drawingml/2006/main">
            <a:off x="7020000" y="1368000"/>
            <a:ext cx="2520000" cy="15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watsonx.ai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Granite Model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Rerouting reasoning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Cold chain severity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classification</a:t>
            </a:r>
          </a:p>
        </p:txBody>
      </p:sp>
      <p:sp>
        <p:nvSpPr>
          <p:cNvPr id="100036" name="LayerDB"/>
          <p:cNvSpPr txBox="1"/>
          <p:nvPr/>
        </p:nvSpPr>
        <p:spPr>
          <a:xfrm xmlns:a="http://schemas.openxmlformats.org/drawingml/2006/main">
            <a:off x="540000" y="3240000"/>
            <a:ext cx="216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60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PERSISTENCE</a:t>
            </a:r>
          </a:p>
        </p:txBody>
      </p:sp>
      <p:sp>
        <p:nvSpPr>
          <p:cNvPr id="100037" name="DBItems"/>
          <p:cNvSpPr txBox="1"/>
          <p:nvPr/>
        </p:nvSpPr>
        <p:spPr>
          <a:xfrm xmlns:a="http://schemas.openxmlformats.org/drawingml/2006/main">
            <a:off x="540000" y="3528000"/>
            <a:ext cx="216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D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SQLite Database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Seeded on first run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Runtime analysis results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IoT log history</a:t>
            </a:r>
          </a:p>
        </p:txBody>
      </p:sp>
      <p:sp>
        <p:nvSpPr>
          <p:cNvPr id="100038" name="LayerAPI"/>
          <p:cNvSpPr txBox="1"/>
          <p:nvPr/>
        </p:nvSpPr>
        <p:spPr>
          <a:xfrm xmlns:a="http://schemas.openxmlformats.org/drawingml/2006/main">
            <a:off x="3420000" y="3240000"/>
            <a:ext cx="288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2B2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100039" name="APIItems"/>
          <p:cNvSpPr txBox="1"/>
          <p:nvPr/>
        </p:nvSpPr>
        <p:spPr>
          <a:xfrm xmlns:a="http://schemas.openxmlformats.org/drawingml/2006/main">
            <a:off x="3420000" y="3528000"/>
            <a:ext cx="288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D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FastAPI Backend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REST API (8 endpoints)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─────────────────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React 18 Dashboard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Tabs: Disruptions · Fleet</a:t>
            </a:r>
          </a:p>
          <a:p xmlns:a="http://schemas.openxmlformats.org/drawingml/2006/main">
            <a:r>
              <a:rPr lang="en-US" sz="1200">
                <a:solidFill>
                  <a:srgbClr val="222222"/>
                </a:solidFill>
              </a:rPr>
              <a:t>Cold Chain · Assistant</a:t>
            </a:r>
          </a:p>
        </p:txBody>
      </p:sp>
      <p:sp>
        <p:nvSpPr>
          <p:cNvPr id="100040" name="MCPLabel"/>
          <p:cNvSpPr txBox="1"/>
          <p:nvPr/>
        </p:nvSpPr>
        <p:spPr>
          <a:xfrm xmlns:a="http://schemas.openxmlformats.org/drawingml/2006/main">
            <a:off x="3420000" y="5112000"/>
            <a:ext cx="28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0F2D5E"/>
                </a:solidFill>
              </a:rPr>
              <a:t>MCP Protocol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1" name="SlideNum"/>
          <p:cNvSpPr txBox="1"/>
          <p:nvPr/>
        </p:nvSpPr>
        <p:spPr>
          <a:xfrm xmlns:a="http://schemas.openxmlformats.org/drawingml/2006/main">
            <a:off x="11160000" y="180000"/>
            <a:ext cx="5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AAAAA"/>
                </a:solidFill>
              </a:rPr>
              <a:t>05</a:t>
            </a:r>
          </a:p>
        </p:txBody>
      </p:sp>
      <p:sp>
        <p:nvSpPr>
          <p:cNvPr id="100042" name="AccentBar"/>
          <p:cNvSpPr txBox="1"/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2D5E"/>
              </a:solidFill>
            </a:endParaRPr>
          </a:p>
        </p:txBody>
      </p:sp>
      <p:sp>
        <p:nvSpPr>
          <p:cNvPr id="100043" name="Title"/>
          <p:cNvSpPr txBox="1"/>
          <p:nvPr/>
        </p:nvSpPr>
        <p:spPr>
          <a:xfrm xmlns:a="http://schemas.openxmlformats.org/drawingml/2006/main">
            <a:off x="540000" y="360000"/>
            <a:ext cx="90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F2D5E"/>
                </a:solidFill>
              </a:rPr>
              <a:t>Demo — Key Features in Action</a:t>
            </a:r>
          </a:p>
        </p:txBody>
      </p:sp>
      <p:sp>
        <p:nvSpPr>
          <p:cNvPr id="100044" name="Step1Header"/>
          <p:cNvSpPr txBox="1"/>
          <p:nvPr/>
        </p:nvSpPr>
        <p:spPr>
          <a:xfrm xmlns:a="http://schemas.openxmlformats.org/drawingml/2006/main">
            <a:off x="540000" y="108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F2D5E"/>
                </a:solidFill>
              </a:rPr>
              <a:t>Step 1 — Disruption Impact Dashboard</a:t>
            </a:r>
          </a:p>
        </p:txBody>
      </p:sp>
      <p:sp>
        <p:nvSpPr>
          <p:cNvPr id="100045" name="Step1Desc"/>
          <p:cNvSpPr txBox="1"/>
          <p:nvPr/>
        </p:nvSpPr>
        <p:spPr>
          <a:xfrm xmlns:a="http://schemas.openxmlformats.org/drawingml/2006/main">
            <a:off x="540000" y="1404000"/>
            <a:ext cx="1080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Operator opens the dashboard → sees live stat cards: Affected Shipments · Idle Fleet Assets · Cold Chain Alerts · Critical Excursions — all fetched in parallel from the backend on load.</a:t>
            </a:r>
          </a:p>
        </p:txBody>
      </p:sp>
      <p:sp>
        <p:nvSpPr>
          <p:cNvPr id="100046" name="Step2Header"/>
          <p:cNvSpPr txBox="1"/>
          <p:nvPr/>
        </p:nvSpPr>
        <p:spPr>
          <a:xfrm xmlns:a="http://schemas.openxmlformats.org/drawingml/2006/main">
            <a:off x="540000" y="2088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F2D5E"/>
                </a:solidFill>
              </a:rPr>
              <a:t>Step 2 — Disruption Drill-Down &amp; Rerouting</a:t>
            </a:r>
          </a:p>
        </p:txBody>
      </p:sp>
      <p:sp>
        <p:nvSpPr>
          <p:cNvPr id="100047" name="Step2Desc"/>
          <p:cNvSpPr txBox="1"/>
          <p:nvPr/>
        </p:nvSpPr>
        <p:spPr>
          <a:xfrm xmlns:a="http://schemas.openxmlformats.org/drawingml/2006/main">
            <a:off x="540000" y="2412000"/>
            <a:ext cx="1080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Operator clicks 'Disruptions' tab → table of affected shipments with severity badges. Clicks 'Reroute' on any row → watsonx.ai returns 3 ranked alternatives inline with delay/cost reasoning.</a:t>
            </a:r>
          </a:p>
        </p:txBody>
      </p:sp>
      <p:sp>
        <p:nvSpPr>
          <p:cNvPr id="100048" name="Step3Header"/>
          <p:cNvSpPr txBox="1"/>
          <p:nvPr/>
        </p:nvSpPr>
        <p:spPr>
          <a:xfrm xmlns:a="http://schemas.openxmlformats.org/drawingml/2006/main">
            <a:off x="540000" y="3096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C0392B"/>
                </a:solidFill>
              </a:rPr>
              <a:t>Step 3 — Cold Chain Critical Alert</a:t>
            </a:r>
          </a:p>
        </p:txBody>
      </p:sp>
      <p:sp>
        <p:nvSpPr>
          <p:cNvPr id="100049" name="Step3Desc"/>
          <p:cNvSpPr txBox="1"/>
          <p:nvPr/>
        </p:nvSpPr>
        <p:spPr>
          <a:xfrm xmlns:a="http://schemas.openxmlformats.org/drawingml/2006/main">
            <a:off x="540000" y="3420000"/>
            <a:ext cx="1080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D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Cold Chain tab shows IoT excursion table. CRITICAL rows highlighted in red. Each alert carries a watsonx.ai-generated action: 'Quarantine shipment immediately upon arrival. Initiate regulatory incident report.'</a:t>
            </a:r>
          </a:p>
        </p:txBody>
      </p:sp>
      <p:sp>
        <p:nvSpPr>
          <p:cNvPr id="100050" name="Step4Header"/>
          <p:cNvSpPr txBox="1"/>
          <p:nvPr/>
        </p:nvSpPr>
        <p:spPr>
          <a:xfrm xmlns:a="http://schemas.openxmlformats.org/drawingml/2006/main">
            <a:off x="540000" y="4104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17A65"/>
                </a:solidFill>
              </a:rPr>
              <a:t>Step 4 — Natural Language Assistant</a:t>
            </a:r>
          </a:p>
        </p:txBody>
      </p:sp>
      <p:sp>
        <p:nvSpPr>
          <p:cNvPr id="100051" name="Step4Desc"/>
          <p:cNvSpPr txBox="1"/>
          <p:nvPr/>
        </p:nvSpPr>
        <p:spPr>
          <a:xfrm xmlns:a="http://schemas.openxmlformats.org/drawingml/2006/main">
            <a:off x="540000" y="4428000"/>
            <a:ext cx="10800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333333"/>
                </a:solidFill>
              </a:rPr>
              <a:t>Operator types: 'Which shipments are affected by the Rotterdam port strike?' → Bob agent chains all 4 tools, synthesises a 3–5 sentence plain-English response with actionable recommendations.</a:t>
            </a:r>
          </a:p>
        </p:txBody>
      </p:sp>
      <p:sp>
        <p:nvSpPr>
          <p:cNvPr id="100052" name="RepoRef"/>
          <p:cNvSpPr txBox="1"/>
          <p:nvPr/>
        </p:nvSpPr>
        <p:spPr>
          <a:xfrm xmlns:a="http://schemas.openxmlformats.org/drawingml/2006/main">
            <a:off x="540000" y="5112000"/>
            <a:ext cx="108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77777"/>
                </a:solidFill>
              </a:rPr>
              <a:t>Full source: github.com/root-cause-Analyzer/bob-ai-hackathon-root-cause-Analyzer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2D5E"/>
        </a:solidFill>
      </p:bgPr>
    </p:bg>
    <p:spTree>
      <p:nvGrpSpPr>
        <p:cNvPr id="1" name=""/>
        <p:cNvGrpSpPr/>
        <p:nvPr/>
      </p:nvGrpSpPr>
      <p:grpSpPr/>
      <p:sp>
        <p:nvSpPr>
          <p:cNvPr id="100053" name="SlideNum"/>
          <p:cNvSpPr txBox="1"/>
          <p:nvPr/>
        </p:nvSpPr>
        <p:spPr>
          <a:xfrm xmlns:a="http://schemas.openxmlformats.org/drawingml/2006/main">
            <a:off x="11160000" y="180000"/>
            <a:ext cx="5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EB8F7"/>
                </a:solidFill>
              </a:rPr>
              <a:t>06</a:t>
            </a:r>
          </a:p>
        </p:txBody>
      </p:sp>
      <p:sp>
        <p:nvSpPr>
          <p:cNvPr id="100054" name="Title"/>
          <p:cNvSpPr txBox="1"/>
          <p:nvPr/>
        </p:nvSpPr>
        <p:spPr>
          <a:xfrm xmlns:a="http://schemas.openxmlformats.org/drawingml/2006/main">
            <a:off x="720000" y="36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IBM Technologies Used</a:t>
            </a:r>
          </a:p>
        </p:txBody>
      </p:sp>
      <p:sp>
        <p:nvSpPr>
          <p:cNvPr id="100055" name="IBMBobHeader"/>
          <p:cNvSpPr txBox="1"/>
          <p:nvPr/>
        </p:nvSpPr>
        <p:spPr>
          <a:xfrm xmlns:a="http://schemas.openxmlformats.org/drawingml/2006/main">
            <a:off x="720000" y="1152000"/>
            <a:ext cx="504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7EB8F7"/>
                </a:solidFill>
              </a:rPr>
              <a:t>IBM Bob</a:t>
            </a:r>
          </a:p>
        </p:txBody>
      </p:sp>
      <p:sp>
        <p:nvSpPr>
          <p:cNvPr id="100056" name="IBMBobDesc"/>
          <p:cNvSpPr txBox="1"/>
          <p:nvPr/>
        </p:nvSpPr>
        <p:spPr>
          <a:xfrm xmlns:a="http://schemas.openxmlformats.org/drawingml/2006/main">
            <a:off x="720000" y="1548000"/>
            <a:ext cx="50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D6EAF8"/>
                </a:solidFill>
              </a:rPr>
              <a:t>Bob is the central orchestrator. The supply chain agent is registered as a Bob assistant and exposes all 4 tools via the MCP Protocol — allowing Bob to discover, call, and chain them autonomously based on operator queries.</a:t>
            </a:r>
          </a:p>
          <a:p xmlns:a="http://schemas.openxmlformats.org/drawingml/2006/main">
            <a:r>
              <a:rPr lang="en-US" sz="1400">
                <a:solidFill>
                  <a:srgbClr val="D6EAF8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D6EAF8"/>
                </a:solidFill>
              </a:rPr>
              <a:t>• Agent defined in agent.py wired to Bob's tool runner</a:t>
            </a:r>
          </a:p>
          <a:p xmlns:a="http://schemas.openxmlformats.org/drawingml/2006/main">
            <a:r>
              <a:rPr lang="en-US" sz="1400">
                <a:solidFill>
                  <a:srgbClr val="D6EAF8"/>
                </a:solidFill>
              </a:rPr>
              <a:t>• mcp_server.py registers tools via stdio MCP transport</a:t>
            </a:r>
          </a:p>
          <a:p xmlns:a="http://schemas.openxmlformats.org/drawingml/2006/main">
            <a:r>
              <a:rPr lang="en-US" sz="1400">
                <a:solidFill>
                  <a:srgbClr val="D6EAF8"/>
                </a:solidFill>
              </a:rPr>
              <a:t>• Bob calls tools, receives JSON, synthesises final answer</a:t>
            </a:r>
          </a:p>
        </p:txBody>
      </p:sp>
      <p:sp>
        <p:nvSpPr>
          <p:cNvPr id="100057" name="WatsonxHeader"/>
          <p:cNvSpPr txBox="1"/>
          <p:nvPr/>
        </p:nvSpPr>
        <p:spPr>
          <a:xfrm xmlns:a="http://schemas.openxmlformats.org/drawingml/2006/main">
            <a:off x="6300000" y="1152000"/>
            <a:ext cx="52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7EB8F7"/>
                </a:solidFill>
              </a:rPr>
              <a:t>watsonx.ai — Granite Model</a:t>
            </a:r>
          </a:p>
        </p:txBody>
      </p:sp>
      <p:sp>
        <p:nvSpPr>
          <p:cNvPr id="100058" name="WatsonxDesc"/>
          <p:cNvSpPr txBox="1"/>
          <p:nvPr/>
        </p:nvSpPr>
        <p:spPr>
          <a:xfrm xmlns:a="http://schemas.openxmlformats.org/drawingml/2006/main">
            <a:off x="6300000" y="1548000"/>
            <a:ext cx="522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D6EAF8"/>
                </a:solidFill>
              </a:rPr>
              <a:t>Granite is used for two distinct AI inference tasks:</a:t>
            </a:r>
          </a:p>
          <a:p xmlns:a="http://schemas.openxmlformats.org/drawingml/2006/main">
            <a:r>
              <a:rPr lang="en-US" sz="1400">
                <a:solidFill>
                  <a:srgbClr val="D6EAF8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D6EAF8"/>
                </a:solidFill>
              </a:rPr>
              <a:t>• Re-routing Advisor — receives structured prompt (shipment details, disruption type, carrier options) → returns 3 ranked alternatives with plain-language reasoning</a:t>
            </a:r>
          </a:p>
          <a:p xmlns:a="http://schemas.openxmlformats.org/drawingml/2006/main">
            <a:r>
              <a:rPr lang="en-US" sz="1400">
                <a:solidFill>
                  <a:srgbClr val="D6EAF8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D6EAF8"/>
                </a:solidFill>
              </a:rPr>
              <a:t>• Cold Chain Monitor — receives excursion context (cargo type, temp deviation, duration) → classifies severity as CRITICAL / REPORTABLE BREACH / MINOR DEVIATION and recommends action</a:t>
            </a:r>
          </a:p>
        </p:txBody>
      </p:sp>
      <p:sp>
        <p:nvSpPr>
          <p:cNvPr id="100059" name="IntegLabel"/>
          <p:cNvSpPr txBox="1"/>
          <p:nvPr/>
        </p:nvSpPr>
        <p:spPr>
          <a:xfrm xmlns:a="http://schemas.openxmlformats.org/drawingml/2006/main">
            <a:off x="720000" y="3780000"/>
            <a:ext cx="36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7EB8F7"/>
                </a:solidFill>
              </a:rPr>
              <a:t>Integration Pattern</a:t>
            </a:r>
          </a:p>
        </p:txBody>
      </p:sp>
      <p:sp>
        <p:nvSpPr>
          <p:cNvPr id="100060" name="IntegFlow"/>
          <p:cNvSpPr txBox="1"/>
          <p:nvPr/>
        </p:nvSpPr>
        <p:spPr>
          <a:xfrm xmlns:a="http://schemas.openxmlformats.org/drawingml/2006/main">
            <a:off x="720000" y="4104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527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Operator Query  →  Bob Agent  →  MCP Tool Chain  →  watsonx.ai Granite  →  Structured Response  →  React Dashboard</a:t>
            </a:r>
          </a:p>
        </p:txBody>
      </p:sp>
      <p:sp>
        <p:nvSpPr>
          <p:cNvPr id="100061" name="ModelNote"/>
          <p:cNvSpPr txBox="1"/>
          <p:nvPr/>
        </p:nvSpPr>
        <p:spPr>
          <a:xfrm xmlns:a="http://schemas.openxmlformats.org/drawingml/2006/main">
            <a:off x="720000" y="468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7EB8F7"/>
                </a:solidFill>
              </a:rPr>
              <a:t>Model: ibm/granite-13b-instruct-v2  ·  Max tokens: 512  ·  Temperature: 0.2 (deterministic)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2" name="SlideNum"/>
          <p:cNvSpPr txBox="1"/>
          <p:nvPr/>
        </p:nvSpPr>
        <p:spPr>
          <a:xfrm xmlns:a="http://schemas.openxmlformats.org/drawingml/2006/main">
            <a:off x="11160000" y="180000"/>
            <a:ext cx="5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AAAAA"/>
                </a:solidFill>
              </a:rPr>
              <a:t>07</a:t>
            </a:r>
          </a:p>
        </p:txBody>
      </p:sp>
      <p:sp>
        <p:nvSpPr>
          <p:cNvPr id="100063" name="AccentBar"/>
          <p:cNvSpPr txBox="1"/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F2D5E"/>
              </a:solidFill>
            </a:endParaRPr>
          </a:p>
        </p:txBody>
      </p:sp>
      <p:sp>
        <p:nvSpPr>
          <p:cNvPr id="100064" name="Title"/>
          <p:cNvSpPr txBox="1"/>
          <p:nvPr/>
        </p:nvSpPr>
        <p:spPr>
          <a:xfrm xmlns:a="http://schemas.openxmlformats.org/drawingml/2006/main">
            <a:off x="540000" y="360000"/>
            <a:ext cx="90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F2D5E"/>
                </a:solidFill>
              </a:rPr>
              <a:t>Results &amp; Impact</a:t>
            </a:r>
          </a:p>
        </p:txBody>
      </p:sp>
      <p:sp>
        <p:nvSpPr>
          <p:cNvPr id="100065" name="Metric1"/>
          <p:cNvSpPr txBox="1"/>
          <p:nvPr/>
        </p:nvSpPr>
        <p:spPr>
          <a:xfrm xmlns:a="http://schemas.openxmlformats.org/drawingml/2006/main">
            <a:off x="540000" y="1188000"/>
            <a:ext cx="27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5F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0F2D5E"/>
                </a:solidFill>
              </a:rPr>
              <a:t>&lt; 2 sec</a:t>
            </a:r>
          </a:p>
        </p:txBody>
      </p:sp>
      <p:sp>
        <p:nvSpPr>
          <p:cNvPr id="100066" name="Metric1Label"/>
          <p:cNvSpPr txBox="1"/>
          <p:nvPr/>
        </p:nvSpPr>
        <p:spPr>
          <a:xfrm xmlns:a="http://schemas.openxmlformats.org/drawingml/2006/main">
            <a:off x="540000" y="1872000"/>
            <a:ext cx="27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55555"/>
                </a:solidFill>
              </a:rPr>
              <a:t>Impact analysis across all active shipments</a:t>
            </a:r>
          </a:p>
        </p:txBody>
      </p:sp>
      <p:sp>
        <p:nvSpPr>
          <p:cNvPr id="100067" name="Metric2"/>
          <p:cNvSpPr txBox="1"/>
          <p:nvPr/>
        </p:nvSpPr>
        <p:spPr>
          <a:xfrm xmlns:a="http://schemas.openxmlformats.org/drawingml/2006/main">
            <a:off x="3780000" y="1188000"/>
            <a:ext cx="27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17A65"/>
                </a:solidFill>
              </a:rPr>
              <a:t>3 ranked</a:t>
            </a:r>
          </a:p>
          <a:p xmlns:a="http://schemas.openxmlformats.org/drawingml/2006/main">
            <a:r>
              <a:rPr lang="en-US" sz="2800" b="1">
                <a:solidFill>
                  <a:srgbClr val="117A65"/>
                </a:solidFill>
              </a:rPr>
              <a:t>options</a:t>
            </a:r>
          </a:p>
        </p:txBody>
      </p:sp>
      <p:sp>
        <p:nvSpPr>
          <p:cNvPr id="100068" name="Metric2Label"/>
          <p:cNvSpPr txBox="1"/>
          <p:nvPr/>
        </p:nvSpPr>
        <p:spPr>
          <a:xfrm xmlns:a="http://schemas.openxmlformats.org/drawingml/2006/main">
            <a:off x="3780000" y="1872000"/>
            <a:ext cx="27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55555"/>
                </a:solidFill>
              </a:rPr>
              <a:t>AI rerouting alternatives per affected shipment</a:t>
            </a:r>
          </a:p>
        </p:txBody>
      </p:sp>
      <p:sp>
        <p:nvSpPr>
          <p:cNvPr id="100069" name="Metric3"/>
          <p:cNvSpPr txBox="1"/>
          <p:nvPr/>
        </p:nvSpPr>
        <p:spPr>
          <a:xfrm xmlns:a="http://schemas.openxmlformats.org/drawingml/2006/main">
            <a:off x="7020000" y="1188000"/>
            <a:ext cx="396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D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C0392B"/>
                </a:solidFill>
              </a:rPr>
              <a:t>CRITICAL /</a:t>
            </a:r>
          </a:p>
          <a:p xmlns:a="http://schemas.openxmlformats.org/drawingml/2006/main">
            <a:r>
              <a:rPr lang="en-US" sz="2000" b="1">
                <a:solidFill>
                  <a:srgbClr val="C0392B"/>
                </a:solidFill>
              </a:rPr>
              <a:t>REPORTABLE /</a:t>
            </a:r>
          </a:p>
          <a:p xmlns:a="http://schemas.openxmlformats.org/drawingml/2006/main">
            <a:r>
              <a:rPr lang="en-US" sz="2000" b="1">
                <a:solidFill>
                  <a:srgbClr val="C0392B"/>
                </a:solidFill>
              </a:rPr>
              <a:t>MINOR</a:t>
            </a:r>
          </a:p>
        </p:txBody>
      </p:sp>
      <p:sp>
        <p:nvSpPr>
          <p:cNvPr id="100070" name="Metric3Label"/>
          <p:cNvSpPr txBox="1"/>
          <p:nvPr/>
        </p:nvSpPr>
        <p:spPr>
          <a:xfrm xmlns:a="http://schemas.openxmlformats.org/drawingml/2006/main">
            <a:off x="7020000" y="1872000"/>
            <a:ext cx="39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55555"/>
                </a:solidFill>
              </a:rPr>
              <a:t>Cold chain severity tiers with action guidance</a:t>
            </a:r>
          </a:p>
        </p:txBody>
      </p:sp>
      <p:sp>
        <p:nvSpPr>
          <p:cNvPr id="100071" name="WhatGood"/>
          <p:cNvSpPr txBox="1"/>
          <p:nvPr/>
        </p:nvSpPr>
        <p:spPr>
          <a:xfrm xmlns:a="http://schemas.openxmlformats.org/drawingml/2006/main">
            <a:off x="540000" y="2520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F2D5E"/>
                </a:solidFill>
              </a:rPr>
              <a:t>What Good Looks Like</a:t>
            </a:r>
          </a:p>
        </p:txBody>
      </p:sp>
      <p:sp>
        <p:nvSpPr>
          <p:cNvPr id="100072" name="GoodList"/>
          <p:cNvSpPr txBox="1"/>
          <p:nvPr/>
        </p:nvSpPr>
        <p:spPr>
          <a:xfrm xmlns:a="http://schemas.openxmlformats.org/drawingml/2006/main">
            <a:off x="540000" y="2880000"/>
            <a:ext cx="10800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222222"/>
                </a:solidFill>
              </a:rPr>
              <a:t>✓  Logistics operator detects a Rotterdam port strike impact in under 2 seconds</a:t>
            </a:r>
          </a:p>
          <a:p xmlns:a="http://schemas.openxmlformats.org/drawingml/2006/main">
            <a:r>
              <a:rPr lang="en-US" sz="1400">
                <a:solidFill>
                  <a:srgbClr val="222222"/>
                </a:solidFill>
              </a:rPr>
              <a:t>✓  Affected shipments get 3 rerouting alternatives with cost and delay estimates — no manual research</a:t>
            </a:r>
          </a:p>
          <a:p xmlns:a="http://schemas.openxmlformats.org/drawingml/2006/main">
            <a:r>
              <a:rPr lang="en-US" sz="1400">
                <a:solidFill>
                  <a:srgbClr val="222222"/>
                </a:solidFill>
              </a:rPr>
              <a:t>✓  Cold chain excursion classified and actioned before cargo reaches the customer</a:t>
            </a:r>
          </a:p>
          <a:p xmlns:a="http://schemas.openxmlformats.org/drawingml/2006/main">
            <a:r>
              <a:rPr lang="en-US" sz="1400">
                <a:solidFill>
                  <a:srgbClr val="222222"/>
                </a:solidFill>
              </a:rPr>
              <a:t>✓  Idle reefer vessels near disrupted region surfaced for immediate redeployment</a:t>
            </a:r>
          </a:p>
          <a:p xmlns:a="http://schemas.openxmlformats.org/drawingml/2006/main">
            <a:r>
              <a:rPr lang="en-US" sz="1400">
                <a:solidFill>
                  <a:srgbClr val="222222"/>
                </a:solidFill>
              </a:rPr>
              <a:t>✓  All analysis from a single natural-language question to the Bob assistant</a:t>
            </a:r>
          </a:p>
        </p:txBody>
      </p:sp>
      <p:sp>
        <p:nvSpPr>
          <p:cNvPr id="100073" name="ProudOf"/>
          <p:cNvSpPr txBox="1"/>
          <p:nvPr/>
        </p:nvSpPr>
        <p:spPr>
          <a:xfrm xmlns:a="http://schemas.openxmlformats.org/drawingml/2006/main">
            <a:off x="540000" y="4680000"/>
            <a:ext cx="10800000" cy="46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Most proud of: Cold chain IoT → Granite severity pipeline — directly addresses $500K+ cargo loss scenario with grounded, structured AI reasoning.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2D5E"/>
        </a:solidFill>
      </p:bgPr>
    </p:bg>
    <p:spTree>
      <p:nvGrpSpPr>
        <p:cNvPr id="1" name=""/>
        <p:cNvGrpSpPr/>
        <p:nvPr/>
      </p:nvGrpSpPr>
      <p:grpSpPr/>
      <p:sp>
        <p:nvSpPr>
          <p:cNvPr id="100074" name="SlideNum"/>
          <p:cNvSpPr txBox="1"/>
          <p:nvPr/>
        </p:nvSpPr>
        <p:spPr>
          <a:xfrm xmlns:a="http://schemas.openxmlformats.org/drawingml/2006/main">
            <a:off x="11160000" y="180000"/>
            <a:ext cx="5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EB8F7"/>
                </a:solidFill>
              </a:rPr>
              <a:t>08</a:t>
            </a:r>
          </a:p>
        </p:txBody>
      </p:sp>
      <p:sp>
        <p:nvSpPr>
          <p:cNvPr id="100075" name="Title"/>
          <p:cNvSpPr txBox="1"/>
          <p:nvPr/>
        </p:nvSpPr>
        <p:spPr>
          <a:xfrm xmlns:a="http://schemas.openxmlformats.org/drawingml/2006/main">
            <a:off x="720000" y="360000"/>
            <a:ext cx="1008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FFFFFF"/>
                </a:solidFill>
              </a:rPr>
              <a:t>The Team</a:t>
            </a:r>
          </a:p>
        </p:txBody>
      </p:sp>
      <p:sp>
        <p:nvSpPr>
          <p:cNvPr id="100076" name="TeamName"/>
          <p:cNvSpPr txBox="1"/>
          <p:nvPr/>
        </p:nvSpPr>
        <p:spPr>
          <a:xfrm xmlns:a="http://schemas.openxmlformats.org/drawingml/2006/main">
            <a:off x="720000" y="1008000"/>
            <a:ext cx="72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7EB8F7"/>
                </a:solidFill>
              </a:rPr>
              <a:t>root-cause-Analyzer  ·  Track: AI</a:t>
            </a:r>
          </a:p>
        </p:txBody>
      </p:sp>
      <p:sp>
        <p:nvSpPr>
          <p:cNvPr id="100077" name="M1Card"/>
          <p:cNvSpPr txBox="1"/>
          <p:nvPr/>
        </p:nvSpPr>
        <p:spPr>
          <a:xfrm xmlns:a="http://schemas.openxmlformats.org/drawingml/2006/main">
            <a:off x="720000" y="1548000"/>
            <a:ext cx="25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Vaibhavlaxmi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Team Lead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Backend architecture · FastAPI · Bob agent orchestration · watsonx.ai integration</a:t>
            </a:r>
          </a:p>
        </p:txBody>
      </p:sp>
      <p:sp>
        <p:nvSpPr>
          <p:cNvPr id="100078" name="M1Lead"/>
          <p:cNvSpPr txBox="1"/>
          <p:nvPr/>
        </p:nvSpPr>
        <p:spPr>
          <a:xfrm xmlns:a="http://schemas.openxmlformats.org/drawingml/2006/main">
            <a:off x="720000" y="1548000"/>
            <a:ext cx="72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8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0F2D5E"/>
                </a:solidFill>
              </a:rPr>
              <a:t>LEAD</a:t>
            </a:r>
          </a:p>
        </p:txBody>
      </p:sp>
      <p:sp>
        <p:nvSpPr>
          <p:cNvPr id="100079" name="M2Card"/>
          <p:cNvSpPr txBox="1"/>
          <p:nvPr/>
        </p:nvSpPr>
        <p:spPr>
          <a:xfrm xmlns:a="http://schemas.openxmlformats.org/drawingml/2006/main">
            <a:off x="3780000" y="1548000"/>
            <a:ext cx="25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Kevina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Team Member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React dashboard · UI/UX design · frontend API integration · design system</a:t>
            </a:r>
          </a:p>
        </p:txBody>
      </p:sp>
      <p:sp>
        <p:nvSpPr>
          <p:cNvPr id="100080" name="M3Card"/>
          <p:cNvSpPr txBox="1"/>
          <p:nvPr/>
        </p:nvSpPr>
        <p:spPr>
          <a:xfrm xmlns:a="http://schemas.openxmlformats.org/drawingml/2006/main">
            <a:off x="6840000" y="1548000"/>
            <a:ext cx="25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Aayush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Team Member</a:t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>
                <a:solidFill>
                  <a:srgbClr val="FFFFFF"/>
                </a:solidFill>
              </a:rPr>
              <a:t>MCP tools · Shipment Impact Analyzer · Fleet Asset Scanner · data seeding</a:t>
            </a:r>
          </a:p>
        </p:txBody>
      </p:sp>
      <p:sp>
        <p:nvSpPr>
          <p:cNvPr id="100081" name="M4Card"/>
          <p:cNvSpPr txBox="1"/>
          <p:nvPr/>
        </p:nvSpPr>
        <p:spPr>
          <a:xfrm xmlns:a="http://schemas.openxmlformats.org/drawingml/2006/main">
            <a:off x="9900000" y="1548000"/>
            <a:ext cx="162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Abhishek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Team Member</a:t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200">
                <a:solidFill>
                  <a:srgbClr val="FFFFFF"/>
                </a:solidFill>
              </a:rPr>
              <a:t>Cold chain IoT pipeline · Re-routing Advisor · SQLite models · testing &amp; QA</a:t>
            </a:r>
          </a:p>
        </p:txBody>
      </p:sp>
      <p:sp>
        <p:nvSpPr>
          <p:cNvPr id="100082" name="Stack"/>
          <p:cNvSpPr txBox="1"/>
          <p:nvPr/>
        </p:nvSpPr>
        <p:spPr>
          <a:xfrm xmlns:a="http://schemas.openxmlformats.org/drawingml/2006/main">
            <a:off x="720000" y="3780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B8D4F0"/>
                </a:solidFill>
              </a:rPr>
              <a:t>Stack:  Python · FastAPI · IBM Bob SDK · watsonx.ai (Granite) · React 18 · SQLite · MCP Protocol</a:t>
            </a:r>
          </a:p>
        </p:txBody>
      </p:sp>
      <p:sp>
        <p:nvSpPr>
          <p:cNvPr id="100083" name="Repo"/>
          <p:cNvSpPr txBox="1"/>
          <p:nvPr/>
        </p:nvSpPr>
        <p:spPr>
          <a:xfrm xmlns:a="http://schemas.openxmlformats.org/drawingml/2006/main">
            <a:off x="720000" y="432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7EB8F7"/>
                </a:solidFill>
              </a:rPr>
              <a:t>github.com/root-cause-Analyzer/bob-ai-hackathon-root-cause-Analyzer</a:t>
            </a:r>
          </a:p>
        </p:txBody>
      </p:sp>
      <p:sp>
        <p:nvSpPr>
          <p:cNvPr id="100084" name="Closing"/>
          <p:cNvSpPr txBox="1"/>
          <p:nvPr/>
        </p:nvSpPr>
        <p:spPr>
          <a:xfrm xmlns:a="http://schemas.openxmlformats.org/drawingml/2006/main">
            <a:off x="720000" y="486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Thank you — open to questions on any aspect of the implementation.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2026-09-15T17:39:48Z</dcterms:created>
  <cp:lastModifiedBy>OfficeCLI</cp:lastModifiedBy>
  <dcterms:modified xsi:type="dcterms:W3CDTF">2026-09-15T17:39:48Z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1.0.150</vt:lpwstr>
  </op:property>
  <op:property fmtid="{D5CDD505-2E9C-101B-9397-08002B2CF9AE}" pid="3" name="OfficeCLI.LastModified">
    <vt:lpwstr xmlns:vt="http://schemas.openxmlformats.org/officeDocument/2006/docPropsVTypes">2026-09-15T17:42:24Z</vt:lpwstr>
  </op:property>
</op:Properties>
</file>